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10728655" cy="5394960"/>
          </a:xfrm>
          <a:prstGeom prst="roundRect">
            <a:avLst>
              <a:gd name="adj" fmla="val 1356"/>
            </a:avLst>
          </a:prstGeom>
          <a:solidFill>
            <a:srgbClr val="0D1B2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91440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0C182B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  ADVANCED HEALTHCARE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Risk Stratification, Predictive Analytics &amp; Patient Registry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651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executive Power BI presentation simulating multi-factor diabetes risks, patient cohort dynamics, metabolic biomarkers, and machine-learning key influencers.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42900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0C182B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520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 SIZE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37673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4343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Monitored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27248" y="342900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0C182B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3520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DIABETIC COHORT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27248" y="37673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27248" y="4343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34.9% Prevalence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57216" y="342900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0C182B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3520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PREDIABETIC AT-RISK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57216" y="37673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57216" y="4343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Window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87184" y="342900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0C182B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3520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RISK SEVERE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87184" y="37673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87184" y="4343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Triage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217152" y="342900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0C182B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3520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GLUCOSE / BMI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217152" y="37673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 / 32.4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17152" y="4343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Elevated Baseline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97280" y="4983480"/>
            <a:ext cx="9997135" cy="777240"/>
          </a:xfrm>
          <a:prstGeom prst="rect">
            <a:avLst/>
          </a:prstGeom>
          <a:solidFill>
            <a:srgbClr val="07101E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51663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for: Clinical Care Team &amp; Executive Leadership   |   Platform: Power BI Embedded Interactive Suite   |   Data Cycle: 2026-10   |   Classification: Clinical Audit Standard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182B"/>
          </a:solidFill>
          <a:ln w="6350">
            <a:solidFill>
              <a:srgbClr val="0055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  |  CLINICAL RISK STRATIFICATION &amp; HEALTH INFORMATICS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6583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HEALTHCARE EDITION  •  CONFIDENTIAL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ARCHITECTURE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Strategic Pillars of Diab Care Intelligence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2560320" cy="5074920"/>
          </a:xfrm>
          <a:prstGeom prst="roundRect">
            <a:avLst>
              <a:gd name="adj" fmla="val 2143"/>
            </a:avLst>
          </a:prstGeom>
          <a:solidFill>
            <a:srgbClr val="0D1B2A"/>
          </a:solidFill>
          <a:ln w="15240">
            <a:solidFill>
              <a:srgbClr val="0055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5331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•  PRE-CLINICAL TRIAGE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&amp; Wellness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digital biometric tracking capturing real-time physiological status before invasive clinical diagnostics.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68680" y="3337560"/>
            <a:ext cx="2286000" cy="18288"/>
          </a:xfrm>
          <a:prstGeom prst="rect">
            <a:avLst/>
          </a:prstGeom>
          <a:solidFill>
            <a:srgbClr val="00557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747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Heart Rate Stability Score: 82% (72 BPM)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Sleep Quality 7-day tracking (Avg 78%)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Physical activity &amp; intensity mapping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Weekly movement trend: 45,780 steps (+18%)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56432" y="1188720"/>
            <a:ext cx="2560320" cy="5074920"/>
          </a:xfrm>
          <a:prstGeom prst="roundRect">
            <a:avLst>
              <a:gd name="adj" fmla="val 2143"/>
            </a:avLst>
          </a:prstGeom>
          <a:solidFill>
            <a:srgbClr val="0D1B2A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135331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•  EPIDEMIOLOGY MATRIX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93592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93592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 Overview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93592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 cohort demographic profiling mapping diabetes prevalence across blood pressure, glucose classes, and parity tiers.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593592" y="3337560"/>
            <a:ext cx="2286000" cy="18288"/>
          </a:xfrm>
          <a:prstGeom prst="rect">
            <a:avLst/>
          </a:prstGeom>
          <a:solidFill>
            <a:srgbClr val="005577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34747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Total cohort size: 768 registered patients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34.9% overall diabetes rate (268 cases)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Obesity class multiplier: 45.8% prevalence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Gestational parity peak: 56.2% for 3-5 births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81344" y="1188720"/>
            <a:ext cx="2560320" cy="5074920"/>
          </a:xfrm>
          <a:prstGeom prst="roundRect">
            <a:avLst>
              <a:gd name="adj" fmla="val 2143"/>
            </a:avLst>
          </a:prstGeom>
          <a:solidFill>
            <a:srgbClr val="0D1B2A"/>
          </a:solidFill>
          <a:ln w="15240">
            <a:solidFill>
              <a:srgbClr val="0055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8504" y="135331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•  PATHOPHYSIOLOGY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18504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18504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Deep-Dive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18504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In-depth endocrine kinetics examining age-related hyperinsulinemia, subcutaneous fat failure, and genetic predisposition.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318504" y="3337560"/>
            <a:ext cx="2286000" cy="18288"/>
          </a:xfrm>
          <a:prstGeom prst="rect">
            <a:avLst/>
          </a:prstGeom>
          <a:solidFill>
            <a:srgbClr val="005577"/>
          </a:solidFill>
          <a:ln/>
        </p:spPr>
      </p:sp>
      <p:sp>
        <p:nvSpPr>
          <p:cNvPr id="31" name="Text 29"/>
          <p:cNvSpPr/>
          <p:nvPr/>
        </p:nvSpPr>
        <p:spPr>
          <a:xfrm>
            <a:off x="6318504" y="34747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Skin fold thickness across BMI categories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Insulin &amp; Genetic risk peak at age 50-59 (183 µU/mL)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Bivariate scatter: Glucose vs BMI clustering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Multi-tier risk matrix (BMI × Blood Pressure)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06256" y="1188720"/>
            <a:ext cx="2560320" cy="5074920"/>
          </a:xfrm>
          <a:prstGeom prst="roundRect">
            <a:avLst>
              <a:gd name="adj" fmla="val 2143"/>
            </a:avLst>
          </a:prstGeom>
          <a:solidFill>
            <a:srgbClr val="0D1B2A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43416" y="135331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43416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•  AI DECISION SUPPORT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043416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43416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Registry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43416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explainable AI (XAI) uncovering key influencers and decision trees for targeted clinical prevention.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043416" y="3337560"/>
            <a:ext cx="2286000" cy="18288"/>
          </a:xfrm>
          <a:prstGeom prst="rect">
            <a:avLst/>
          </a:prstGeom>
          <a:solidFill>
            <a:srgbClr val="005577"/>
          </a:solidFill>
          <a:ln/>
        </p:spPr>
      </p:sp>
      <p:sp>
        <p:nvSpPr>
          <p:cNvPr id="39" name="Text 37"/>
          <p:cNvSpPr/>
          <p:nvPr/>
        </p:nvSpPr>
        <p:spPr>
          <a:xfrm>
            <a:off x="9043416" y="34747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Key Lever: Glucose drop (-30.44 -&gt; 1.87x non-diabetic)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BMI reduction lever (-6.88 -&gt; 1.51x protective boost)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148 High-Risk pool (75.7% currently non-diabetic!)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Decomposition tree: 82.5% obesity concentration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182B"/>
          </a:solidFill>
          <a:ln w="6350">
            <a:solidFill>
              <a:srgbClr val="0055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  |  CLINICAL RISK STRATIFICATION &amp; HEALTH INFORMATICS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6583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HEALTHCARE EDITION  • 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1643055" cy="438912"/>
          </a:xfrm>
          <a:prstGeom prst="roundRect">
            <a:avLst>
              <a:gd name="adj" fmla="val 10417"/>
            </a:avLst>
          </a:prstGeom>
          <a:solidFill>
            <a:srgbClr val="0C182B"/>
          </a:solidFill>
          <a:ln w="15240">
            <a:solidFill>
              <a:srgbClr val="00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🍎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6088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11696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Deep-Dive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47304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Registry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29800" y="15544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1554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🕒 2026-10-16  09:31 PM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658368"/>
            <a:ext cx="8138160" cy="5715000"/>
          </a:xfrm>
          <a:prstGeom prst="roundRect">
            <a:avLst>
              <a:gd name="adj" fmla="val 800"/>
            </a:avLst>
          </a:prstGeom>
          <a:solidFill>
            <a:srgbClr val="0D1B2A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19" name="Image 0" descr="C:/Users/DEN STORE/.gemini/antigravity/scratch/pptx_project/clean_images/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777240"/>
            <a:ext cx="7863840" cy="54406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595360" y="658368"/>
            <a:ext cx="3322015" cy="1810512"/>
          </a:xfrm>
          <a:prstGeom prst="roundRect">
            <a:avLst>
              <a:gd name="adj" fmla="val 2525"/>
            </a:avLst>
          </a:prstGeom>
          <a:solidFill>
            <a:srgbClr val="0D1B2A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32520" y="768096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32520" y="76809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CARDIOVASCULAR TELEMETRY  •  82% Score | 72 BPM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732520" y="1042416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 Rate Stability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32520" y="1353312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sensor tracking reflects 82% heart rate stability with a 72 BPM baseline and normal sinus rhythm. Autonomic stability provides vital context on sympathetic stress.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595360" y="2578608"/>
            <a:ext cx="3322015" cy="1810512"/>
          </a:xfrm>
          <a:prstGeom prst="roundRect">
            <a:avLst>
              <a:gd name="adj" fmla="val 2525"/>
            </a:avLst>
          </a:prstGeom>
          <a:solidFill>
            <a:srgbClr val="0D1B2A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32520" y="2688336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32520" y="268833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CIRCADIAN HOMEOSTASIS  •  78% 7-Day Average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732520" y="2962656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 Architecture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732520" y="3273552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continuous sleep monitoring shows stable scores (72% Monday climbing to 83% Sunday). Adequate sleep hygiene is essential to prevent acute morning insulin spikes.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8595360" y="4498848"/>
            <a:ext cx="3322015" cy="1810512"/>
          </a:xfrm>
          <a:prstGeom prst="roundRect">
            <a:avLst>
              <a:gd name="adj" fmla="val 2525"/>
            </a:avLst>
          </a:prstGeom>
          <a:solidFill>
            <a:srgbClr val="0D1B2A"/>
          </a:solidFill>
          <a:ln w="15240">
            <a:solidFill>
              <a:srgbClr val="FFA5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32520" y="4608576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32520" y="460857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 PROTOCOL  •  45,780 Weekly Steps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8732520" y="4882896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 &amp; Intensity Gap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732520" y="5193792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volume grew +18% week-over-week. While walking volume is strong at 78%, exercise intensity lags at only 38%, highlighting a key lifestyle intervention target.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182B"/>
          </a:solidFill>
          <a:ln w="6350">
            <a:solidFill>
              <a:srgbClr val="0055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  |  CLINICAL RISK STRATIFICATION &amp; HEALTH INFORMATICS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6583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HEALTHCARE EDITION  • 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1643055" cy="438912"/>
          </a:xfrm>
          <a:prstGeom prst="roundRect">
            <a:avLst>
              <a:gd name="adj" fmla="val 10417"/>
            </a:avLst>
          </a:prstGeom>
          <a:solidFill>
            <a:srgbClr val="0C182B"/>
          </a:solidFill>
          <a:ln w="15240">
            <a:solidFill>
              <a:srgbClr val="00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🍎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6088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11696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Deep-Dive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47304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Registry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29800" y="15544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1554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🕒 2026-10-16  09:31 PM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Patients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0195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343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8775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28600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Diabetic Patients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6791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5371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34.9%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5196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 Rate 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3387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💧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1967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1792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Glucose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9983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131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8563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8388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BMI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76579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0412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7727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5159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14984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Prediabetic At-Risk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1731752" y="1033272"/>
            <a:ext cx="100584" cy="100584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1325880"/>
            <a:ext cx="8138160" cy="5029200"/>
          </a:xfrm>
          <a:prstGeom prst="roundRect">
            <a:avLst>
              <a:gd name="adj" fmla="val 909"/>
            </a:avLst>
          </a:prstGeom>
          <a:solidFill>
            <a:srgbClr val="0D1B2A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49" name="Image 0" descr="C:/Users/DEN STORE/.gemini/antigravity/scratch/pptx_project/clean_images/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63040"/>
            <a:ext cx="7863840" cy="475488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8595360" y="1325880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FF4D4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732520" y="1435608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32520" y="14356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 METRIC  •  34.9%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8732520" y="169164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Epidemiological Outcomes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732520" y="198424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Donut analysis shows 500 non-diabetics (65.1%) and 268 confirmed diabetics. Prediabetic at-risk group totals 201 patients, representing the key prospective cohort.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8595360" y="3035808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732520" y="3145536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32520" y="314553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METABOLIC ACCELERATOR  •  45.8%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8732520" y="340156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BMI Escalation Curve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732520" y="3694176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area chart confirms obesity (BMI 30+) is the primary driver of diabetes. Risk drops to 22.2% in overweight (25-29.9) and to 6.9% in normal weight.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8595360" y="4745736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732520" y="4855464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732520" y="4855464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GESTATIONAL PROFILE  •  56.2%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8732520" y="5111496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Parity &amp; Age Profile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732520" y="5404104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Pregnancy curve reflects clear gestational insulin resistance peak at 3-5 pregnancies. Cohort is demographically young with 396 patients in the 21-29 age bracket.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182B"/>
          </a:solidFill>
          <a:ln w="6350">
            <a:solidFill>
              <a:srgbClr val="0055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  |  CLINICAL RISK STRATIFICATION &amp; HEALTH INFORMATICS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6583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HEALTHCARE EDITION  • 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1643055" cy="438912"/>
          </a:xfrm>
          <a:prstGeom prst="roundRect">
            <a:avLst>
              <a:gd name="adj" fmla="val 10417"/>
            </a:avLst>
          </a:prstGeom>
          <a:solidFill>
            <a:srgbClr val="0C182B"/>
          </a:solidFill>
          <a:ln w="15240">
            <a:solidFill>
              <a:srgbClr val="00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🍎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6088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11696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Deep-Dive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47304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Registry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29800" y="15544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1554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🕒 2026-10-16  09:31 PM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Patients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0195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343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8775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28600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Diabetic Patients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6791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5371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34.9%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5196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 Rate 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3387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💧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1967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1792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Glucose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9983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131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8563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8388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BMI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76579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0412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7727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5159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14984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Prediabetic At-Risk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1731752" y="1033272"/>
            <a:ext cx="100584" cy="100584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1325880"/>
            <a:ext cx="8138160" cy="5029200"/>
          </a:xfrm>
          <a:prstGeom prst="roundRect">
            <a:avLst>
              <a:gd name="adj" fmla="val 909"/>
            </a:avLst>
          </a:prstGeom>
          <a:solidFill>
            <a:srgbClr val="0D1B2A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49" name="Image 0" descr="C:/Users/DEN STORE/.gemini/antigravity/scratch/pptx_project/clean_images/deepd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63040"/>
            <a:ext cx="7863840" cy="475488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8595360" y="1325880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FF4D4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732520" y="1435608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32520" y="14356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ENDOCRINE KINETICS  •  183 µU/mL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8732520" y="169164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50-59 Insulin Spike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732520" y="198424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hyperinsulinemia occurs in the 50-59 age group (183 µU/mL) coupled with maximum genetic pedigree (0.529). Beta-cell exhaustion triggers after this decade.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8595360" y="3035808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732520" y="3145536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32520" y="314553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PATHOLOGY CLUSTER  •  Critical Quadrant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8732520" y="340156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Bivariate Glucose-BMI Scatter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732520" y="3694176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 analysis reveals sharp clustering of diabetic cases in the Glucose &gt; 130 mg/dL and BMI &gt; 32 kg/m² quadrant, separating clearly from the normoglycemic cluster.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8595360" y="4745736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732520" y="4855464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732520" y="4855464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ADIPOSE MARKER  •  34 mm vs 21 mm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8732520" y="5111496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Subcutaneous Lipid Overflow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732520" y="5404104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 fold thickness peaks at 34 mm in obese non-diabetics vs 21 mm in obese diabetics. Failure of peripheral subcutaneous storage forces toxic visceral fat deposition.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182B"/>
          </a:solidFill>
          <a:ln w="6350">
            <a:solidFill>
              <a:srgbClr val="0055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  |  CLINICAL RISK STRATIFICATION &amp; HEALTH INFORMATICS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6583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HEALTHCARE EDITION  • 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1643055" cy="438912"/>
          </a:xfrm>
          <a:prstGeom prst="roundRect">
            <a:avLst>
              <a:gd name="adj" fmla="val 10417"/>
            </a:avLst>
          </a:prstGeom>
          <a:solidFill>
            <a:srgbClr val="0C182B"/>
          </a:solidFill>
          <a:ln w="15240">
            <a:solidFill>
              <a:srgbClr val="00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🍎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6088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11696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2700">
            <a:solidFill>
              <a:srgbClr val="0055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Deep-Dive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47304" y="155448"/>
            <a:ext cx="1325880" cy="310896"/>
          </a:xfrm>
          <a:prstGeom prst="roundRect">
            <a:avLst>
              <a:gd name="adj" fmla="val 11765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155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Registry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29800" y="15544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162B44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1554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🕒 2026-10-16  09:31 PM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Patients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0195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343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8775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28600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Diabetic Patients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6791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5371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34.9%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5196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 Rate 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3387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💧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1967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1792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Glucose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9983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131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8563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8388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BMI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765792" y="1033272"/>
            <a:ext cx="100584" cy="100584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04120" y="621792"/>
            <a:ext cx="1810512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3970">
            <a:solidFill>
              <a:srgbClr val="00D4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77272" y="713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51592" y="6766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149840" y="969264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Risk Patients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1731752" y="1033272"/>
            <a:ext cx="100584" cy="100584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1325880"/>
            <a:ext cx="8138160" cy="5029200"/>
          </a:xfrm>
          <a:prstGeom prst="roundRect">
            <a:avLst>
              <a:gd name="adj" fmla="val 909"/>
            </a:avLst>
          </a:prstGeom>
          <a:solidFill>
            <a:srgbClr val="0D1B2A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49" name="Image 0" descr="C:/Users/DEN STORE/.gemini/antigravity/scratch/pptx_project/clean_images/regis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63040"/>
            <a:ext cx="7863840" cy="475488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8595360" y="1325880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732520" y="1435608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32520" y="14356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XAI  •  1.87x Multiplier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8732520" y="169164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Key Influencers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732520" y="1984248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Dropping Glucose by 30.44 mg/dL increases non-diabetic likelihood by 1.87x. Dropping BMI by 6.88 kg/m² adds another 1.51x protective boost. Age &lt;= 24 gives 1.36x.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8595360" y="3035808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732520" y="3145536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32520" y="314553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OPPORTUNITY  •  112 / 148 Patients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8732520" y="340156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75.7% Prevention Window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732520" y="3694176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revelation: 112 out of 148 High-Risk patients (75.7%) are NOT yet diabetic. They represent the highest-ROI opportunity for aggressive clinical lifestyle intervention.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8595360" y="4745736"/>
            <a:ext cx="3322015" cy="16002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5240">
            <a:solidFill>
              <a:srgbClr val="FFA50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732520" y="4855464"/>
            <a:ext cx="3044952" cy="219456"/>
          </a:xfrm>
          <a:prstGeom prst="roundRect">
            <a:avLst>
              <a:gd name="adj" fmla="val 16667"/>
            </a:avLst>
          </a:prstGeom>
          <a:solidFill>
            <a:srgbClr val="0C182B"/>
          </a:solidFill>
          <a:ln w="10160">
            <a:solidFill>
              <a:srgbClr val="00557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732520" y="4855464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82.5% CONCENTRATION  •  221 Obese Diabetics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8732520" y="5111496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Decomposition Tree Insight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732520" y="5404104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Decomposition tree reveals 221 of 268 confirmed diabetics are obese (30+ BMI). Targeting obesity in this single group neutralizes the vast majority of diabetic disease burden.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182B"/>
          </a:solidFill>
          <a:ln w="6350">
            <a:solidFill>
              <a:srgbClr val="0055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  |  CLINICAL RISK STRATIFICATION &amp; HEALTH INFORMATICS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6583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HEALTHCARE EDITION  •  CONFIDENTIAL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INTERVENTION 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Stratified Clinical Protocols &amp; Executive Roadmap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10728655" cy="1170432"/>
          </a:xfrm>
          <a:prstGeom prst="roundRect">
            <a:avLst>
              <a:gd name="adj" fmla="val 3906"/>
            </a:avLst>
          </a:prstGeom>
          <a:solidFill>
            <a:srgbClr val="0D1B2A"/>
          </a:solidFill>
          <a:ln w="15240">
            <a:solidFill>
              <a:srgbClr val="FF4D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188720"/>
            <a:ext cx="2926080" cy="1170432"/>
          </a:xfrm>
          <a:prstGeom prst="rect">
            <a:avLst/>
          </a:prstGeom>
          <a:solidFill>
            <a:srgbClr val="0C182B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HIGH RISK &amp; CONFIRMED DIABETIC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 High Risk  |  268 Confirmed Diabetics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Protocol: Immediate Pharmacotherapy &amp; Tertiary Prevention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Deploy Continuous Glucose Monitoring (CGM) for all 148 high-risk cases.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895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Targeted glycemic reduction (&gt;30.44 mg/dL drop to trigger 1.87x remission multiplier).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GLP-1 receptor agonist and SGLT2i evaluation to address obesity (221 cases) and renal protection.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58952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Weekly multidisciplinary team review (Endocrinology, Cardiology, Dietetics).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31520" y="2468880"/>
            <a:ext cx="10728655" cy="1170432"/>
          </a:xfrm>
          <a:prstGeom prst="roundRect">
            <a:avLst>
              <a:gd name="adj" fmla="val 3906"/>
            </a:avLst>
          </a:prstGeom>
          <a:solidFill>
            <a:srgbClr val="0D1B2A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468880"/>
            <a:ext cx="2926080" cy="1170432"/>
          </a:xfrm>
          <a:prstGeom prst="rect">
            <a:avLst/>
          </a:prstGeom>
          <a:solidFill>
            <a:srgbClr val="0C182B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PREDIABETIC AT-RISK COHORT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 Prediabetic Patients  (The Golden Prevention Window)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868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Protocol: Aggressive Lifestyle Intervention &amp; Metformin Interception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Structured 16-week diabetes prevention program targeting 7% body weight reduction (6.88 kg/m² BMI drop).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58952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Postprandial glycemic excursions monitored via wearable patch telemetry.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84048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Early Metformin therapy considered for age 50-59 cohort with peak insulin (183 µU/mL).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58952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Bi-monthly HbA1c testing and automated EHR risk re-scoring.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31520" y="3749040"/>
            <a:ext cx="10728655" cy="1170432"/>
          </a:xfrm>
          <a:prstGeom prst="roundRect">
            <a:avLst>
              <a:gd name="adj" fmla="val 3906"/>
            </a:avLst>
          </a:prstGeom>
          <a:solidFill>
            <a:srgbClr val="0D1B2A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749040"/>
            <a:ext cx="2926080" cy="1170432"/>
          </a:xfrm>
          <a:prstGeom prst="rect">
            <a:avLst/>
          </a:prstGeom>
          <a:solidFill>
            <a:srgbClr val="0C182B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HIGH PEDIGREE &amp; MULTIPAROUS WOMEN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4160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DiabetesPedigreeFunction &gt; 0.527  |  3+ Pregnancies (56.2% risk cohort)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8680" y="4480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Protocol: Early Surveillance &amp; Epigenetic Risk Mitigation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Annual oral glucose tolerance test (OGTT) for all multiparous women (3-5 pregnancies).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58952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Familial screening counseling for first-degree relatives of confirmed diabetic patients.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384048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Nutrition consultation emphasizing low glycemic index Mediterranean dietary pattern.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758952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Postpartum metabolic follow-up protocol established through primary care clinics.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31520" y="5029200"/>
            <a:ext cx="10728655" cy="1170432"/>
          </a:xfrm>
          <a:prstGeom prst="roundRect">
            <a:avLst>
              <a:gd name="adj" fmla="val 3906"/>
            </a:avLst>
          </a:prstGeom>
          <a:solidFill>
            <a:srgbClr val="0D1B2A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5029200"/>
            <a:ext cx="2926080" cy="1170432"/>
          </a:xfrm>
          <a:prstGeom prst="rect">
            <a:avLst/>
          </a:prstGeom>
          <a:solidFill>
            <a:srgbClr val="0C182B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120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4: GENERAL POPULATION WELLNESS COHORT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5440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400+ Normoglycemic &amp; Baseline Patients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8680" y="5760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Protocol: Digital Biomarker Tracking &amp; Primary Prevention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4048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Encourage physical activity maintenance above the 45,780 steps weekly baseline.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58952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Address exercise intensity gap (currently at only 38% vs 78% walking volume).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3840480" y="5623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Promote sleep hygiene to maintain 7-day average score above 80% to protect insulin sensitivity.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7589520" y="5623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Annual biometric wellness checkup in the Diab Care Analytics portal.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94360"/>
            <a:ext cx="10728655" cy="5486400"/>
          </a:xfrm>
          <a:prstGeom prst="roundRect">
            <a:avLst>
              <a:gd name="adj" fmla="val 1333"/>
            </a:avLst>
          </a:prstGeom>
          <a:solidFill>
            <a:srgbClr val="0D1B2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868680"/>
            <a:ext cx="3291840" cy="347472"/>
          </a:xfrm>
          <a:prstGeom prst="roundRect">
            <a:avLst>
              <a:gd name="adj" fmla="val 10526"/>
            </a:avLst>
          </a:prstGeom>
          <a:solidFill>
            <a:srgbClr val="0C182B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PROJECT PRESENTATION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 Care Analytics Dashboard — Healthcare Intelligence &amp; Predictive Modeling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3317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0C182B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468880"/>
            <a:ext cx="685800" cy="256032"/>
          </a:xfrm>
          <a:prstGeom prst="roundRect">
            <a:avLst>
              <a:gd name="adj" fmla="val 10714"/>
            </a:avLst>
          </a:prstGeom>
          <a:solidFill>
            <a:srgbClr val="071424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688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6596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88720" y="280720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Mohamed Mamdouh Abdelaty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23317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0C182B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468880"/>
            <a:ext cx="685800" cy="256032"/>
          </a:xfrm>
          <a:prstGeom prst="roundRect">
            <a:avLst>
              <a:gd name="adj" fmla="val 10714"/>
            </a:avLst>
          </a:prstGeom>
          <a:solidFill>
            <a:srgbClr val="071424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688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4068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63440" y="280720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Awad Ahmed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0" y="23317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0C182B"/>
          </a:solidFill>
          <a:ln w="15240">
            <a:solidFill>
              <a:srgbClr val="FF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468880"/>
            <a:ext cx="685800" cy="256032"/>
          </a:xfrm>
          <a:prstGeom prst="roundRect">
            <a:avLst>
              <a:gd name="adj" fmla="val 10714"/>
            </a:avLst>
          </a:prstGeom>
          <a:solidFill>
            <a:srgbClr val="071424"/>
          </a:solidFill>
          <a:ln w="10160">
            <a:solidFill>
              <a:srgbClr val="FF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4688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154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138160" y="280720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Abdelrahman Mohamed Ahmed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88920" y="37033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0C182B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3840480"/>
            <a:ext cx="685800" cy="256032"/>
          </a:xfrm>
          <a:prstGeom prst="roundRect">
            <a:avLst>
              <a:gd name="adj" fmla="val 10714"/>
            </a:avLst>
          </a:prstGeom>
          <a:solidFill>
            <a:srgbClr val="071424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8404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0332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926080" y="417880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Fatma Ahmed Abdul Qader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37033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0C182B"/>
          </a:solidFill>
          <a:ln w="15240">
            <a:solidFill>
              <a:srgbClr val="00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840480"/>
            <a:ext cx="685800" cy="256032"/>
          </a:xfrm>
          <a:prstGeom prst="roundRect">
            <a:avLst>
              <a:gd name="adj" fmla="val 10714"/>
            </a:avLst>
          </a:prstGeom>
          <a:solidFill>
            <a:srgbClr val="071424"/>
          </a:solidFill>
          <a:ln w="10160">
            <a:solidFill>
              <a:srgbClr val="00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8404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6948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92240" y="417880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Yasmin Taha Alsayed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51560" y="5166360"/>
            <a:ext cx="10088575" cy="685800"/>
          </a:xfrm>
          <a:prstGeom prst="rect">
            <a:avLst/>
          </a:prstGeom>
          <a:solidFill>
            <a:srgbClr val="0710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5230368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Department of Health Informatics &amp; Data Analytics   |   Power BI Clinical Intelligence Project   |   October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88720" y="5504688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Your Time!   •   Open for Questions, Clinical Discussion &amp; Feedback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2026-10-19T20:41:19Z</dcterms:created>
  <dcterms:modified xsi:type="dcterms:W3CDTF">2026-10-19T20:41:19Z</dcterms:modified>
</cp:coreProperties>
</file>